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94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38682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22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10" Type="http://schemas.openxmlformats.org/officeDocument/2006/relationships/image" Target="../media/image25.png"/><Relationship Id="rId4" Type="http://schemas.openxmlformats.org/officeDocument/2006/relationships/image" Target="../media/image15.png"/><Relationship Id="rId9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15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1950" y="2417214"/>
            <a:ext cx="65" cy="27699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endParaRPr lang="en-US" dirty="0"/>
          </a:p>
        </p:txBody>
      </p:sp>
      <p:sp>
        <p:nvSpPr>
          <p:cNvPr id="5" name="Text 1"/>
          <p:cNvSpPr/>
          <p:nvPr/>
        </p:nvSpPr>
        <p:spPr>
          <a:xfrm>
            <a:off x="4571951" y="2926171"/>
            <a:ext cx="65" cy="18466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4571952" y="3507290"/>
            <a:ext cx="64" cy="16158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457200" y="514350"/>
            <a:ext cx="134428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10B981">
                    <a:alpha val="20000"/>
                  </a:srgbClr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&lt;div class="portfolio"&gt;</a:t>
            </a:r>
            <a:endParaRPr lang="en-US" sz="942" dirty="0"/>
          </a:p>
        </p:txBody>
      </p:sp>
      <p:sp>
        <p:nvSpPr>
          <p:cNvPr id="8" name="Text 4"/>
          <p:cNvSpPr/>
          <p:nvPr/>
        </p:nvSpPr>
        <p:spPr>
          <a:xfrm>
            <a:off x="8039956" y="4179094"/>
            <a:ext cx="37253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10B981">
                    <a:alpha val="20000"/>
                  </a:srgbClr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&lt;/div&gt;</a:t>
            </a:r>
            <a:endParaRPr lang="en-US" sz="942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3149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28600" y="228600"/>
            <a:ext cx="2184983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F9FAF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Project Overview</a:t>
            </a:r>
            <a:endParaRPr lang="en-US" sz="2025" dirty="0"/>
          </a:p>
        </p:txBody>
      </p:sp>
      <p:sp>
        <p:nvSpPr>
          <p:cNvPr id="4" name="Shape 1"/>
          <p:cNvSpPr/>
          <p:nvPr/>
        </p:nvSpPr>
        <p:spPr>
          <a:xfrm>
            <a:off x="2527883" y="414338"/>
            <a:ext cx="6387517" cy="1428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5" name="Text 2"/>
          <p:cNvSpPr/>
          <p:nvPr/>
        </p:nvSpPr>
        <p:spPr>
          <a:xfrm>
            <a:off x="228600" y="842963"/>
            <a:ext cx="42291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0B98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Portfolio Website Project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228600" y="1214438"/>
            <a:ext cx="42291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 modern, responsive portfolio website designed to showcase Ghassan Emran's skills, projects, and professional experience as a full-stack developer. </a:t>
            </a:r>
            <a:endParaRPr lang="en-US" sz="1046" dirty="0"/>
          </a:p>
        </p:txBody>
      </p:sp>
      <p:sp>
        <p:nvSpPr>
          <p:cNvPr id="7" name="Text 4"/>
          <p:cNvSpPr/>
          <p:nvPr/>
        </p:nvSpPr>
        <p:spPr>
          <a:xfrm>
            <a:off x="228600" y="2071688"/>
            <a:ext cx="42291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0B98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Target Audience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228600" y="2443163"/>
            <a:ext cx="4229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Potential employers, clients, and fellow developers looking to collaborate on projects. </a:t>
            </a:r>
            <a:endParaRPr lang="en-US" sz="1046" dirty="0"/>
          </a:p>
        </p:txBody>
      </p:sp>
      <p:sp>
        <p:nvSpPr>
          <p:cNvPr id="9" name="Text 6"/>
          <p:cNvSpPr/>
          <p:nvPr/>
        </p:nvSpPr>
        <p:spPr>
          <a:xfrm>
            <a:off x="228600" y="3071813"/>
            <a:ext cx="42291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0B98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Key Features</a:t>
            </a:r>
            <a:endParaRPr lang="en-US" sz="13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3486150"/>
            <a:ext cx="128588" cy="12858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42913" y="3443288"/>
            <a:ext cx="323712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Modern dark theme with emerald green accents </a:t>
            </a:r>
            <a:endParaRPr lang="en-US" sz="1046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3814763"/>
            <a:ext cx="128588" cy="12858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42913" y="3771900"/>
            <a:ext cx="251203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Fully responsive design for all devices </a:t>
            </a:r>
            <a:endParaRPr lang="en-US" sz="1046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4143375"/>
            <a:ext cx="128588" cy="12858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42913" y="4100513"/>
            <a:ext cx="279850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Interactive project showcase with filtering </a:t>
            </a:r>
            <a:endParaRPr lang="en-US" sz="1046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4471988"/>
            <a:ext cx="128588" cy="12858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42913" y="4429125"/>
            <a:ext cx="235629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Smooth animations and transitions </a:t>
            </a:r>
            <a:endParaRPr lang="en-US" sz="1046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4800600"/>
            <a:ext cx="128588" cy="12858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442913" y="4757738"/>
            <a:ext cx="190325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Contact form with validation </a:t>
            </a:r>
            <a:endParaRPr lang="en-US" sz="1046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1550194"/>
            <a:ext cx="3543300" cy="28289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0293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28600" y="228600"/>
            <a:ext cx="3022085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F9FAF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UX Research &amp; Strategy</a:t>
            </a:r>
            <a:endParaRPr lang="en-US" sz="2025" dirty="0"/>
          </a:p>
        </p:txBody>
      </p:sp>
      <p:sp>
        <p:nvSpPr>
          <p:cNvPr id="4" name="Shape 1"/>
          <p:cNvSpPr/>
          <p:nvPr/>
        </p:nvSpPr>
        <p:spPr>
          <a:xfrm>
            <a:off x="3364985" y="414338"/>
            <a:ext cx="5550415" cy="1428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5" name="Text 2"/>
          <p:cNvSpPr/>
          <p:nvPr/>
        </p:nvSpPr>
        <p:spPr>
          <a:xfrm>
            <a:off x="228600" y="842963"/>
            <a:ext cx="42291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0B98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User Research Findings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228600" y="1214438"/>
            <a:ext cx="42291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Research focused on understanding the needs of potential employers and clients when evaluating a developer's portfolio website. </a:t>
            </a:r>
            <a:endParaRPr lang="en-US" sz="1046" dirty="0"/>
          </a:p>
        </p:txBody>
      </p:sp>
      <p:sp>
        <p:nvSpPr>
          <p:cNvPr id="7" name="Shape 4"/>
          <p:cNvSpPr/>
          <p:nvPr/>
        </p:nvSpPr>
        <p:spPr>
          <a:xfrm>
            <a:off x="228600" y="2071688"/>
            <a:ext cx="4229100" cy="1693069"/>
          </a:xfrm>
          <a:prstGeom prst="rect">
            <a:avLst/>
          </a:prstGeom>
          <a:solidFill>
            <a:srgbClr val="374151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8" name="Shape 5"/>
          <p:cNvSpPr/>
          <p:nvPr/>
        </p:nvSpPr>
        <p:spPr>
          <a:xfrm>
            <a:off x="228600" y="2071688"/>
            <a:ext cx="28575" cy="1693069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9" name="Text 6"/>
          <p:cNvSpPr/>
          <p:nvPr/>
        </p:nvSpPr>
        <p:spPr>
          <a:xfrm>
            <a:off x="400050" y="2243138"/>
            <a:ext cx="3886200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38" b="1" dirty="0">
                <a:solidFill>
                  <a:srgbClr val="F9FAF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Primary Persona: Tech Recruiter</a:t>
            </a:r>
            <a:endParaRPr lang="en-US" sz="1238" dirty="0"/>
          </a:p>
        </p:txBody>
      </p:sp>
      <p:sp>
        <p:nvSpPr>
          <p:cNvPr id="10" name="Text 7"/>
          <p:cNvSpPr/>
          <p:nvPr/>
        </p:nvSpPr>
        <p:spPr>
          <a:xfrm>
            <a:off x="400050" y="2536031"/>
            <a:ext cx="388620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10B98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Hiring Manager at Tech Companies</a:t>
            </a:r>
            <a:endParaRPr lang="en-US" sz="942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50" y="2882503"/>
            <a:ext cx="142875" cy="1143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28650" y="2843213"/>
            <a:ext cx="2426587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Needs quick access to skills and projects</a:t>
            </a:r>
            <a:endParaRPr lang="en-US" sz="942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0050" y="3132534"/>
            <a:ext cx="142875" cy="1143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28650" y="3093244"/>
            <a:ext cx="2781877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Limited time to review portfolios (2-3 minutes)</a:t>
            </a:r>
            <a:endParaRPr lang="en-US" sz="942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0050" y="3382566"/>
            <a:ext cx="142875" cy="1143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28650" y="3343275"/>
            <a:ext cx="233567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Looking for specific technical expertise</a:t>
            </a:r>
            <a:endParaRPr lang="en-US" sz="942" dirty="0"/>
          </a:p>
        </p:txBody>
      </p:sp>
      <p:sp>
        <p:nvSpPr>
          <p:cNvPr id="17" name="Shape 11"/>
          <p:cNvSpPr/>
          <p:nvPr/>
        </p:nvSpPr>
        <p:spPr>
          <a:xfrm>
            <a:off x="228600" y="3936206"/>
            <a:ext cx="4229100" cy="1693069"/>
          </a:xfrm>
          <a:prstGeom prst="rect">
            <a:avLst/>
          </a:prstGeom>
          <a:solidFill>
            <a:srgbClr val="374151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18" name="Shape 12"/>
          <p:cNvSpPr/>
          <p:nvPr/>
        </p:nvSpPr>
        <p:spPr>
          <a:xfrm>
            <a:off x="228600" y="3936206"/>
            <a:ext cx="28575" cy="1693069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19" name="Text 13"/>
          <p:cNvSpPr/>
          <p:nvPr/>
        </p:nvSpPr>
        <p:spPr>
          <a:xfrm>
            <a:off x="400050" y="4107656"/>
            <a:ext cx="3886200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38" b="1" dirty="0">
                <a:solidFill>
                  <a:srgbClr val="F9FAF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Secondary Persona: Potential Client</a:t>
            </a:r>
            <a:endParaRPr lang="en-US" sz="1238" dirty="0"/>
          </a:p>
        </p:txBody>
      </p:sp>
      <p:sp>
        <p:nvSpPr>
          <p:cNvPr id="20" name="Text 14"/>
          <p:cNvSpPr/>
          <p:nvPr/>
        </p:nvSpPr>
        <p:spPr>
          <a:xfrm>
            <a:off x="400050" y="4400550"/>
            <a:ext cx="388620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10B98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Business Owner Seeking Web Development</a:t>
            </a:r>
            <a:endParaRPr lang="en-US" sz="942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0050" y="4747022"/>
            <a:ext cx="142875" cy="1143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28650" y="4707731"/>
            <a:ext cx="263696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Focuses on visual appeal and design quality</a:t>
            </a:r>
            <a:endParaRPr lang="en-US" sz="942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0050" y="4997053"/>
            <a:ext cx="142875" cy="11430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628650" y="4957763"/>
            <a:ext cx="226881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Values clear communication channels</a:t>
            </a:r>
            <a:endParaRPr lang="en-US" sz="942" dirty="0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0050" y="5247084"/>
            <a:ext cx="142875" cy="11430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628650" y="5207794"/>
            <a:ext cx="2275619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Interested in similar project examples</a:t>
            </a:r>
            <a:endParaRPr lang="en-US" sz="942" dirty="0"/>
          </a:p>
        </p:txBody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29200" y="1907381"/>
            <a:ext cx="3543300" cy="28289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8293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28600" y="228600"/>
            <a:ext cx="4627113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F9FAF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Information Architecture &amp; Sitemap</a:t>
            </a:r>
            <a:endParaRPr lang="en-US" sz="2025" dirty="0"/>
          </a:p>
        </p:txBody>
      </p:sp>
      <p:sp>
        <p:nvSpPr>
          <p:cNvPr id="4" name="Shape 1"/>
          <p:cNvSpPr/>
          <p:nvPr/>
        </p:nvSpPr>
        <p:spPr>
          <a:xfrm>
            <a:off x="4970013" y="414338"/>
            <a:ext cx="3945387" cy="1428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5" name="Text 2"/>
          <p:cNvSpPr/>
          <p:nvPr/>
        </p:nvSpPr>
        <p:spPr>
          <a:xfrm>
            <a:off x="228600" y="842963"/>
            <a:ext cx="42291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0B98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Website Structure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228600" y="1214438"/>
            <a:ext cx="42291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The portfolio website follows a clear, intuitive structure designed to guide visitors through Ghassan's professional journey and showcase his work effectively. </a:t>
            </a:r>
            <a:endParaRPr lang="en-US" sz="1046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2114550"/>
            <a:ext cx="142875" cy="12858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7200" y="2080617"/>
            <a:ext cx="825689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Home/Hero</a:t>
            </a:r>
            <a:endParaRPr lang="en-US" sz="1046" dirty="0"/>
          </a:p>
        </p:txBody>
      </p:sp>
      <p:sp>
        <p:nvSpPr>
          <p:cNvPr id="9" name="Text 5"/>
          <p:cNvSpPr/>
          <p:nvPr/>
        </p:nvSpPr>
        <p:spPr>
          <a:xfrm>
            <a:off x="1282889" y="2080617"/>
            <a:ext cx="281636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Engaging introduction and call-to-action</a:t>
            </a:r>
            <a:endParaRPr lang="en-US" sz="1046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2443163"/>
            <a:ext cx="142875" cy="12858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57200" y="2409230"/>
            <a:ext cx="43334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About</a:t>
            </a:r>
            <a:endParaRPr lang="en-US" sz="1046" dirty="0"/>
          </a:p>
        </p:txBody>
      </p:sp>
      <p:sp>
        <p:nvSpPr>
          <p:cNvPr id="12" name="Text 7"/>
          <p:cNvSpPr/>
          <p:nvPr/>
        </p:nvSpPr>
        <p:spPr>
          <a:xfrm>
            <a:off x="890541" y="2409230"/>
            <a:ext cx="244388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Professional background and skills</a:t>
            </a:r>
            <a:endParaRPr lang="en-US" sz="1046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600" y="2771775"/>
            <a:ext cx="142875" cy="12858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7200" y="2737842"/>
            <a:ext cx="78210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Experience</a:t>
            </a:r>
            <a:endParaRPr lang="en-US" sz="1046" dirty="0"/>
          </a:p>
        </p:txBody>
      </p:sp>
      <p:sp>
        <p:nvSpPr>
          <p:cNvPr id="15" name="Text 9"/>
          <p:cNvSpPr/>
          <p:nvPr/>
        </p:nvSpPr>
        <p:spPr>
          <a:xfrm>
            <a:off x="1239301" y="2737842"/>
            <a:ext cx="223058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Work history and achievements</a:t>
            </a:r>
            <a:endParaRPr lang="en-US" sz="1046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600" y="3100388"/>
            <a:ext cx="142875" cy="12858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57200" y="3066455"/>
            <a:ext cx="57465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Projects</a:t>
            </a:r>
            <a:endParaRPr lang="en-US" sz="1046" dirty="0"/>
          </a:p>
        </p:txBody>
      </p:sp>
      <p:sp>
        <p:nvSpPr>
          <p:cNvPr id="18" name="Text 11"/>
          <p:cNvSpPr/>
          <p:nvPr/>
        </p:nvSpPr>
        <p:spPr>
          <a:xfrm>
            <a:off x="1031853" y="3066455"/>
            <a:ext cx="270848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Featured and other development work</a:t>
            </a:r>
            <a:endParaRPr lang="en-US" sz="1046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8600" y="3429000"/>
            <a:ext cx="142875" cy="128588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457200" y="3395067"/>
            <a:ext cx="55707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Contact</a:t>
            </a:r>
            <a:endParaRPr lang="en-US" sz="1046" dirty="0"/>
          </a:p>
        </p:txBody>
      </p:sp>
      <p:sp>
        <p:nvSpPr>
          <p:cNvPr id="21" name="Text 13"/>
          <p:cNvSpPr/>
          <p:nvPr/>
        </p:nvSpPr>
        <p:spPr>
          <a:xfrm>
            <a:off x="1014273" y="3395067"/>
            <a:ext cx="248504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Communication channels and form</a:t>
            </a:r>
            <a:endParaRPr lang="en-US" sz="1046" dirty="0"/>
          </a:p>
        </p:txBody>
      </p:sp>
      <p:sp>
        <p:nvSpPr>
          <p:cNvPr id="22" name="Shape 14"/>
          <p:cNvSpPr/>
          <p:nvPr/>
        </p:nvSpPr>
        <p:spPr>
          <a:xfrm>
            <a:off x="228600" y="3771900"/>
            <a:ext cx="4229100" cy="1657350"/>
          </a:xfrm>
          <a:prstGeom prst="rect">
            <a:avLst/>
          </a:prstGeom>
          <a:solidFill>
            <a:srgbClr val="374151"/>
          </a:solidFill>
          <a:ln/>
        </p:spPr>
        <p:txBody>
          <a:bodyPr/>
          <a:lstStyle/>
          <a:p>
            <a:endParaRPr lang="en-001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0050" y="3982641"/>
            <a:ext cx="157163" cy="157163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642938" y="3943350"/>
            <a:ext cx="1634970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38" b="1" dirty="0">
                <a:solidFill>
                  <a:srgbClr val="F9FAF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User Navigation Flow </a:t>
            </a:r>
            <a:endParaRPr lang="en-US" sz="1238" dirty="0"/>
          </a:p>
        </p:txBody>
      </p:sp>
      <p:sp>
        <p:nvSpPr>
          <p:cNvPr id="25" name="Text 16"/>
          <p:cNvSpPr/>
          <p:nvPr/>
        </p:nvSpPr>
        <p:spPr>
          <a:xfrm>
            <a:off x="400050" y="4293394"/>
            <a:ext cx="3886200" cy="9644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The site employs a single-page design with smooth scrolling navigation, allowing users to easily move between sections. Strategic CTAs guide visitors toward viewing projects and making contact, with a logical progression from introduction to engagement. </a:t>
            </a:r>
            <a:endParaRPr lang="en-US" sz="942" dirty="0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50606" y="1628775"/>
            <a:ext cx="3900488" cy="318611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83644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28600" y="228600"/>
            <a:ext cx="1489583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F9FAF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Wireframes</a:t>
            </a:r>
            <a:endParaRPr lang="en-US" sz="2025" dirty="0"/>
          </a:p>
        </p:txBody>
      </p:sp>
      <p:sp>
        <p:nvSpPr>
          <p:cNvPr id="4" name="Shape 1"/>
          <p:cNvSpPr/>
          <p:nvPr/>
        </p:nvSpPr>
        <p:spPr>
          <a:xfrm>
            <a:off x="1832483" y="414338"/>
            <a:ext cx="7082917" cy="1428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5" name="Text 2"/>
          <p:cNvSpPr/>
          <p:nvPr/>
        </p:nvSpPr>
        <p:spPr>
          <a:xfrm>
            <a:off x="228600" y="842963"/>
            <a:ext cx="42291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0B98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Basic Wireframes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228600" y="1214438"/>
            <a:ext cx="42291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Wireframes serve as the skeletal framework of the portfolio website, focusing on layout, structure, and functionality before visual design elements are applied. </a:t>
            </a:r>
            <a:endParaRPr lang="en-US" sz="1046" dirty="0"/>
          </a:p>
        </p:txBody>
      </p:sp>
      <p:sp>
        <p:nvSpPr>
          <p:cNvPr id="7" name="Text 4"/>
          <p:cNvSpPr/>
          <p:nvPr/>
        </p:nvSpPr>
        <p:spPr>
          <a:xfrm>
            <a:off x="228600" y="2071688"/>
            <a:ext cx="42291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0B98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Pages Wireframed</a:t>
            </a:r>
            <a:endParaRPr lang="en-US" sz="13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2486025"/>
            <a:ext cx="142875" cy="12858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57200" y="2443163"/>
            <a:ext cx="193567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Homepage with hero section</a:t>
            </a:r>
            <a:endParaRPr lang="en-US" sz="1046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2814638"/>
            <a:ext cx="142875" cy="12858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57200" y="2771775"/>
            <a:ext cx="198412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About page with skills section</a:t>
            </a:r>
            <a:endParaRPr lang="en-US" sz="1046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600" y="3143250"/>
            <a:ext cx="142875" cy="12858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57200" y="3100388"/>
            <a:ext cx="159621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Projects showcase page</a:t>
            </a:r>
            <a:endParaRPr lang="en-US" sz="1046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600" y="3471863"/>
            <a:ext cx="142875" cy="12858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457200" y="3429000"/>
            <a:ext cx="158206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Contact page with form</a:t>
            </a:r>
            <a:endParaRPr lang="en-US" sz="1046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8600" y="3800475"/>
            <a:ext cx="142875" cy="128588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457200" y="3757613"/>
            <a:ext cx="181939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Mobile responsive versions</a:t>
            </a:r>
            <a:endParaRPr lang="en-US" sz="1046" dirty="0"/>
          </a:p>
        </p:txBody>
      </p:sp>
      <p:sp>
        <p:nvSpPr>
          <p:cNvPr id="18" name="Shape 10"/>
          <p:cNvSpPr/>
          <p:nvPr/>
        </p:nvSpPr>
        <p:spPr>
          <a:xfrm>
            <a:off x="228600" y="4143375"/>
            <a:ext cx="4229100" cy="1464469"/>
          </a:xfrm>
          <a:prstGeom prst="rect">
            <a:avLst/>
          </a:prstGeom>
          <a:solidFill>
            <a:srgbClr val="374151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19" name="Text 11"/>
          <p:cNvSpPr/>
          <p:nvPr/>
        </p:nvSpPr>
        <p:spPr>
          <a:xfrm>
            <a:off x="400050" y="4314825"/>
            <a:ext cx="3886200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38" b="1" dirty="0">
                <a:solidFill>
                  <a:srgbClr val="F9FAF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Benefits of Wireframing</a:t>
            </a:r>
            <a:endParaRPr lang="en-US" sz="1238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0050" y="4693444"/>
            <a:ext cx="114300" cy="11430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600075" y="4664869"/>
            <a:ext cx="348559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F9FAF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Focuses on functionality and user flow without visual distractions</a:t>
            </a:r>
            <a:endParaRPr lang="en-US" sz="837" dirty="0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0050" y="4950619"/>
            <a:ext cx="114300" cy="114300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600075" y="4922044"/>
            <a:ext cx="337310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F9FAF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Allows for quick iterations and feedback before detailed design</a:t>
            </a:r>
            <a:endParaRPr lang="en-US" sz="837" dirty="0"/>
          </a:p>
        </p:txBody>
      </p:sp>
      <p:pic>
        <p:nvPicPr>
          <p:cNvPr id="24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0050" y="5207794"/>
            <a:ext cx="114300" cy="114300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600075" y="5179219"/>
            <a:ext cx="343896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F9FAF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Establishes clear content hierarchy and information architecture</a:t>
            </a:r>
            <a:endParaRPr lang="en-US" sz="837" dirty="0"/>
          </a:p>
        </p:txBody>
      </p:sp>
      <p:pic>
        <p:nvPicPr>
          <p:cNvPr id="26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29200" y="1632347"/>
            <a:ext cx="3543300" cy="318611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28600" y="228600"/>
            <a:ext cx="3443064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F9FAF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UI Design &amp; Visual Identity</a:t>
            </a:r>
            <a:endParaRPr lang="en-US" sz="2025" dirty="0"/>
          </a:p>
        </p:txBody>
      </p:sp>
      <p:sp>
        <p:nvSpPr>
          <p:cNvPr id="4" name="Shape 1"/>
          <p:cNvSpPr/>
          <p:nvPr/>
        </p:nvSpPr>
        <p:spPr>
          <a:xfrm>
            <a:off x="3785964" y="414338"/>
            <a:ext cx="5129436" cy="1428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5" name="Text 2"/>
          <p:cNvSpPr/>
          <p:nvPr/>
        </p:nvSpPr>
        <p:spPr>
          <a:xfrm>
            <a:off x="228600" y="785813"/>
            <a:ext cx="42291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0B98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Color Palette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228600" y="1128713"/>
            <a:ext cx="500063" cy="500063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7" name="Text 4"/>
          <p:cNvSpPr/>
          <p:nvPr/>
        </p:nvSpPr>
        <p:spPr>
          <a:xfrm>
            <a:off x="285750" y="1218009"/>
            <a:ext cx="385763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575" b="1" dirty="0">
                <a:solidFill>
                  <a:srgbClr val="F9FAF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#10B981</a:t>
            </a:r>
            <a:endParaRPr lang="en-US" sz="575" dirty="0"/>
          </a:p>
        </p:txBody>
      </p:sp>
      <p:sp>
        <p:nvSpPr>
          <p:cNvPr id="8" name="Text 5"/>
          <p:cNvSpPr/>
          <p:nvPr/>
        </p:nvSpPr>
        <p:spPr>
          <a:xfrm>
            <a:off x="285750" y="1453753"/>
            <a:ext cx="385763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575" b="1" dirty="0">
                <a:solidFill>
                  <a:srgbClr val="F9FAF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Primary </a:t>
            </a:r>
            <a:endParaRPr lang="en-US" sz="575" dirty="0"/>
          </a:p>
        </p:txBody>
      </p:sp>
      <p:sp>
        <p:nvSpPr>
          <p:cNvPr id="9" name="Shape 6"/>
          <p:cNvSpPr/>
          <p:nvPr/>
        </p:nvSpPr>
        <p:spPr>
          <a:xfrm>
            <a:off x="1160859" y="1128713"/>
            <a:ext cx="500063" cy="500063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10" name="Text 7"/>
          <p:cNvSpPr/>
          <p:nvPr/>
        </p:nvSpPr>
        <p:spPr>
          <a:xfrm>
            <a:off x="1218009" y="1218009"/>
            <a:ext cx="385763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575" b="1" dirty="0">
                <a:solidFill>
                  <a:srgbClr val="F9FAF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#1F2937</a:t>
            </a:r>
            <a:endParaRPr lang="en-US" sz="575" dirty="0"/>
          </a:p>
        </p:txBody>
      </p:sp>
      <p:sp>
        <p:nvSpPr>
          <p:cNvPr id="11" name="Text 8"/>
          <p:cNvSpPr/>
          <p:nvPr/>
        </p:nvSpPr>
        <p:spPr>
          <a:xfrm>
            <a:off x="1218009" y="1453753"/>
            <a:ext cx="385763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575" b="1" dirty="0">
                <a:solidFill>
                  <a:srgbClr val="F9FAF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Background </a:t>
            </a:r>
            <a:endParaRPr lang="en-US" sz="575" dirty="0"/>
          </a:p>
        </p:txBody>
      </p:sp>
      <p:sp>
        <p:nvSpPr>
          <p:cNvPr id="12" name="Shape 9"/>
          <p:cNvSpPr/>
          <p:nvPr/>
        </p:nvSpPr>
        <p:spPr>
          <a:xfrm>
            <a:off x="2093119" y="1128713"/>
            <a:ext cx="500063" cy="500063"/>
          </a:xfrm>
          <a:prstGeom prst="rect">
            <a:avLst/>
          </a:prstGeom>
          <a:solidFill>
            <a:srgbClr val="374151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13" name="Text 10"/>
          <p:cNvSpPr/>
          <p:nvPr/>
        </p:nvSpPr>
        <p:spPr>
          <a:xfrm>
            <a:off x="2150269" y="1218009"/>
            <a:ext cx="385763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575" b="1" dirty="0">
                <a:solidFill>
                  <a:srgbClr val="F9FAF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#374151</a:t>
            </a:r>
            <a:endParaRPr lang="en-US" sz="575" dirty="0"/>
          </a:p>
        </p:txBody>
      </p:sp>
      <p:sp>
        <p:nvSpPr>
          <p:cNvPr id="14" name="Text 11"/>
          <p:cNvSpPr/>
          <p:nvPr/>
        </p:nvSpPr>
        <p:spPr>
          <a:xfrm>
            <a:off x="2150269" y="1453753"/>
            <a:ext cx="385763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575" b="1" dirty="0">
                <a:solidFill>
                  <a:srgbClr val="F9FAF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Secondary </a:t>
            </a:r>
            <a:endParaRPr lang="en-US" sz="575" dirty="0"/>
          </a:p>
        </p:txBody>
      </p:sp>
      <p:sp>
        <p:nvSpPr>
          <p:cNvPr id="15" name="Shape 12"/>
          <p:cNvSpPr/>
          <p:nvPr/>
        </p:nvSpPr>
        <p:spPr>
          <a:xfrm>
            <a:off x="3025378" y="1128713"/>
            <a:ext cx="500063" cy="500063"/>
          </a:xfrm>
          <a:prstGeom prst="rect">
            <a:avLst/>
          </a:prstGeom>
          <a:solidFill>
            <a:srgbClr val="F9FAFB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16" name="Text 13"/>
          <p:cNvSpPr/>
          <p:nvPr/>
        </p:nvSpPr>
        <p:spPr>
          <a:xfrm>
            <a:off x="3082528" y="1218009"/>
            <a:ext cx="385763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575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#F9FAFB</a:t>
            </a:r>
            <a:endParaRPr lang="en-US" sz="575" dirty="0"/>
          </a:p>
        </p:txBody>
      </p:sp>
      <p:sp>
        <p:nvSpPr>
          <p:cNvPr id="17" name="Text 14"/>
          <p:cNvSpPr/>
          <p:nvPr/>
        </p:nvSpPr>
        <p:spPr>
          <a:xfrm>
            <a:off x="3082528" y="1453753"/>
            <a:ext cx="385763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575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Text </a:t>
            </a:r>
            <a:endParaRPr lang="en-US" sz="575" dirty="0"/>
          </a:p>
        </p:txBody>
      </p:sp>
      <p:sp>
        <p:nvSpPr>
          <p:cNvPr id="18" name="Shape 15"/>
          <p:cNvSpPr/>
          <p:nvPr/>
        </p:nvSpPr>
        <p:spPr>
          <a:xfrm>
            <a:off x="3957638" y="1128713"/>
            <a:ext cx="500063" cy="500063"/>
          </a:xfrm>
          <a:prstGeom prst="rect">
            <a:avLst/>
          </a:prstGeom>
          <a:solidFill>
            <a:srgbClr val="D1D5DB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19" name="Text 16"/>
          <p:cNvSpPr/>
          <p:nvPr/>
        </p:nvSpPr>
        <p:spPr>
          <a:xfrm>
            <a:off x="4014788" y="1100138"/>
            <a:ext cx="385763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575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#D1D5DB</a:t>
            </a:r>
            <a:endParaRPr lang="en-US" sz="575" dirty="0"/>
          </a:p>
        </p:txBody>
      </p:sp>
      <p:sp>
        <p:nvSpPr>
          <p:cNvPr id="20" name="Text 17"/>
          <p:cNvSpPr/>
          <p:nvPr/>
        </p:nvSpPr>
        <p:spPr>
          <a:xfrm>
            <a:off x="4014788" y="1335881"/>
            <a:ext cx="385763" cy="235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575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Subtle Text </a:t>
            </a:r>
            <a:endParaRPr lang="en-US" sz="575" dirty="0"/>
          </a:p>
        </p:txBody>
      </p:sp>
      <p:sp>
        <p:nvSpPr>
          <p:cNvPr id="21" name="Text 18"/>
          <p:cNvSpPr/>
          <p:nvPr/>
        </p:nvSpPr>
        <p:spPr>
          <a:xfrm>
            <a:off x="228600" y="1800225"/>
            <a:ext cx="42291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0B98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Typography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228600" y="2143125"/>
            <a:ext cx="4229100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463" b="1" dirty="0">
                <a:solidFill>
                  <a:srgbClr val="F9FAF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Inter Bold (Headings)</a:t>
            </a:r>
            <a:endParaRPr lang="en-US" sz="1463" dirty="0"/>
          </a:p>
        </p:txBody>
      </p:sp>
      <p:sp>
        <p:nvSpPr>
          <p:cNvPr id="23" name="Text 20"/>
          <p:cNvSpPr/>
          <p:nvPr/>
        </p:nvSpPr>
        <p:spPr>
          <a:xfrm>
            <a:off x="228600" y="2450306"/>
            <a:ext cx="42291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F9FAF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Inter SemiBold (Subheadings)</a:t>
            </a:r>
            <a:endParaRPr lang="en-US" sz="1046" dirty="0"/>
          </a:p>
        </p:txBody>
      </p:sp>
      <p:sp>
        <p:nvSpPr>
          <p:cNvPr id="24" name="Text 21"/>
          <p:cNvSpPr/>
          <p:nvPr/>
        </p:nvSpPr>
        <p:spPr>
          <a:xfrm>
            <a:off x="228600" y="2693194"/>
            <a:ext cx="42291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F9FAF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Inter Regular (Body Text)</a:t>
            </a:r>
            <a:endParaRPr lang="en-US" sz="837" dirty="0"/>
          </a:p>
        </p:txBody>
      </p:sp>
      <p:sp>
        <p:nvSpPr>
          <p:cNvPr id="25" name="Text 22"/>
          <p:cNvSpPr/>
          <p:nvPr/>
        </p:nvSpPr>
        <p:spPr>
          <a:xfrm>
            <a:off x="228600" y="3007519"/>
            <a:ext cx="42291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0B98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UI Components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228600" y="3350419"/>
            <a:ext cx="1238464" cy="592931"/>
          </a:xfrm>
          <a:prstGeom prst="rect">
            <a:avLst/>
          </a:prstGeom>
          <a:solidFill>
            <a:srgbClr val="374151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27" name="Shape 24"/>
          <p:cNvSpPr/>
          <p:nvPr/>
        </p:nvSpPr>
        <p:spPr>
          <a:xfrm>
            <a:off x="314325" y="3436144"/>
            <a:ext cx="1067014" cy="28575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28" name="Text 25"/>
          <p:cNvSpPr/>
          <p:nvPr/>
        </p:nvSpPr>
        <p:spPr>
          <a:xfrm>
            <a:off x="314325" y="3436144"/>
            <a:ext cx="1067014" cy="285750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ctr">
            <a:spAutoFit/>
          </a:bodyPr>
          <a:lstStyle/>
          <a:p>
            <a:pPr marL="0" indent="0" algn="ctr">
              <a:buNone/>
            </a:pPr>
            <a:r>
              <a:rPr lang="en-US" sz="837" b="1" dirty="0">
                <a:solidFill>
                  <a:srgbClr val="F9FAF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Primary Button</a:t>
            </a:r>
            <a:endParaRPr lang="en-US" sz="837" dirty="0"/>
          </a:p>
        </p:txBody>
      </p:sp>
      <p:sp>
        <p:nvSpPr>
          <p:cNvPr id="29" name="Shape 26"/>
          <p:cNvSpPr/>
          <p:nvPr/>
        </p:nvSpPr>
        <p:spPr>
          <a:xfrm>
            <a:off x="1552789" y="3350419"/>
            <a:ext cx="1391385" cy="592931"/>
          </a:xfrm>
          <a:prstGeom prst="rect">
            <a:avLst/>
          </a:prstGeom>
          <a:solidFill>
            <a:srgbClr val="374151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30" name="Text 27"/>
          <p:cNvSpPr/>
          <p:nvPr/>
        </p:nvSpPr>
        <p:spPr>
          <a:xfrm>
            <a:off x="1638514" y="3436144"/>
            <a:ext cx="1219935" cy="300038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ctr">
            <a:spAutoFit/>
          </a:bodyPr>
          <a:lstStyle/>
          <a:p>
            <a:pPr marL="0" indent="0" algn="ctr">
              <a:buNone/>
            </a:pPr>
            <a:r>
              <a:rPr lang="en-US" sz="837" b="1" dirty="0">
                <a:solidFill>
                  <a:srgbClr val="10B98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Secondary Button</a:t>
            </a:r>
            <a:endParaRPr lang="en-US" sz="837" dirty="0"/>
          </a:p>
        </p:txBody>
      </p:sp>
      <p:sp>
        <p:nvSpPr>
          <p:cNvPr id="31" name="Shape 28"/>
          <p:cNvSpPr/>
          <p:nvPr/>
        </p:nvSpPr>
        <p:spPr>
          <a:xfrm>
            <a:off x="3029898" y="3350419"/>
            <a:ext cx="785813" cy="592931"/>
          </a:xfrm>
          <a:prstGeom prst="rect">
            <a:avLst/>
          </a:prstGeom>
          <a:solidFill>
            <a:srgbClr val="374151"/>
          </a:solidFill>
          <a:ln/>
        </p:spPr>
        <p:txBody>
          <a:bodyPr/>
          <a:lstStyle/>
          <a:p>
            <a:endParaRPr lang="en-001"/>
          </a:p>
        </p:txBody>
      </p:sp>
      <p:pic>
        <p:nvPicPr>
          <p:cNvPr id="3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080" y="3436144"/>
            <a:ext cx="171450" cy="171450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3115624" y="3686175"/>
            <a:ext cx="61436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37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Icon</a:t>
            </a:r>
            <a:endParaRPr lang="en-US" sz="837" dirty="0"/>
          </a:p>
        </p:txBody>
      </p:sp>
      <p:sp>
        <p:nvSpPr>
          <p:cNvPr id="34" name="Text 30"/>
          <p:cNvSpPr/>
          <p:nvPr/>
        </p:nvSpPr>
        <p:spPr>
          <a:xfrm>
            <a:off x="228600" y="4057650"/>
            <a:ext cx="4229100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The design system emphasizes clean, modern aesthetics with a dark theme and emerald green accents. All UI elements maintain consistent styling for a cohesive user experience. </a:t>
            </a:r>
            <a:endParaRPr lang="en-US" sz="942" dirty="0"/>
          </a:p>
        </p:txBody>
      </p:sp>
      <p:pic>
        <p:nvPicPr>
          <p:cNvPr id="3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00638" y="1507331"/>
            <a:ext cx="3400425" cy="26860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25078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28600" y="228600"/>
            <a:ext cx="2392263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F9FAF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Responsive Design</a:t>
            </a:r>
            <a:endParaRPr lang="en-US" sz="2025" dirty="0"/>
          </a:p>
        </p:txBody>
      </p:sp>
      <p:sp>
        <p:nvSpPr>
          <p:cNvPr id="4" name="Shape 1"/>
          <p:cNvSpPr/>
          <p:nvPr/>
        </p:nvSpPr>
        <p:spPr>
          <a:xfrm>
            <a:off x="2735163" y="414338"/>
            <a:ext cx="6180237" cy="1428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5" name="Text 2"/>
          <p:cNvSpPr/>
          <p:nvPr/>
        </p:nvSpPr>
        <p:spPr>
          <a:xfrm>
            <a:off x="228600" y="842963"/>
            <a:ext cx="42291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0B98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Mobile-First Approach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228600" y="1214438"/>
            <a:ext cx="42291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The portfolio website is built with a mobile-first approach, ensuring optimal user experience across all devices from smartphones to large desktop screens. </a:t>
            </a:r>
            <a:endParaRPr lang="en-US" sz="1046" dirty="0"/>
          </a:p>
        </p:txBody>
      </p:sp>
      <p:sp>
        <p:nvSpPr>
          <p:cNvPr id="7" name="Text 4"/>
          <p:cNvSpPr/>
          <p:nvPr/>
        </p:nvSpPr>
        <p:spPr>
          <a:xfrm>
            <a:off x="228600" y="2071688"/>
            <a:ext cx="42291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0B98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Responsive Breakpoints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228600" y="2443163"/>
            <a:ext cx="85725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10B98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Mobile:</a:t>
            </a:r>
            <a:endParaRPr lang="en-US" sz="942" dirty="0"/>
          </a:p>
        </p:txBody>
      </p:sp>
      <p:sp>
        <p:nvSpPr>
          <p:cNvPr id="9" name="Text 6"/>
          <p:cNvSpPr/>
          <p:nvPr/>
        </p:nvSpPr>
        <p:spPr>
          <a:xfrm>
            <a:off x="1085850" y="2443163"/>
            <a:ext cx="47218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&lt; 640px</a:t>
            </a:r>
            <a:endParaRPr lang="en-US" sz="942" dirty="0"/>
          </a:p>
        </p:txBody>
      </p:sp>
      <p:sp>
        <p:nvSpPr>
          <p:cNvPr id="10" name="Text 7"/>
          <p:cNvSpPr/>
          <p:nvPr/>
        </p:nvSpPr>
        <p:spPr>
          <a:xfrm>
            <a:off x="228600" y="2750344"/>
            <a:ext cx="85725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10B98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Tablet:</a:t>
            </a:r>
            <a:endParaRPr lang="en-US" sz="942" dirty="0"/>
          </a:p>
        </p:txBody>
      </p:sp>
      <p:sp>
        <p:nvSpPr>
          <p:cNvPr id="11" name="Text 8"/>
          <p:cNvSpPr/>
          <p:nvPr/>
        </p:nvSpPr>
        <p:spPr>
          <a:xfrm>
            <a:off x="1085850" y="2750344"/>
            <a:ext cx="91222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640px - 1024px</a:t>
            </a:r>
            <a:endParaRPr lang="en-US" sz="942" dirty="0"/>
          </a:p>
        </p:txBody>
      </p:sp>
      <p:sp>
        <p:nvSpPr>
          <p:cNvPr id="12" name="Text 9"/>
          <p:cNvSpPr/>
          <p:nvPr/>
        </p:nvSpPr>
        <p:spPr>
          <a:xfrm>
            <a:off x="228600" y="3057525"/>
            <a:ext cx="85725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10B98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Desktop:</a:t>
            </a:r>
            <a:endParaRPr lang="en-US" sz="942" dirty="0"/>
          </a:p>
        </p:txBody>
      </p:sp>
      <p:sp>
        <p:nvSpPr>
          <p:cNvPr id="13" name="Text 10"/>
          <p:cNvSpPr/>
          <p:nvPr/>
        </p:nvSpPr>
        <p:spPr>
          <a:xfrm>
            <a:off x="1085850" y="3057525"/>
            <a:ext cx="54574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&gt; 1024px</a:t>
            </a:r>
            <a:endParaRPr lang="en-US" sz="942" dirty="0"/>
          </a:p>
        </p:txBody>
      </p:sp>
      <p:sp>
        <p:nvSpPr>
          <p:cNvPr id="14" name="Text 11"/>
          <p:cNvSpPr/>
          <p:nvPr/>
        </p:nvSpPr>
        <p:spPr>
          <a:xfrm>
            <a:off x="228600" y="3364706"/>
            <a:ext cx="42291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0B98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Key Responsive Features</a:t>
            </a:r>
            <a:endParaRPr lang="en-US" sz="135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3771900"/>
            <a:ext cx="96441" cy="12858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10766" y="3745111"/>
            <a:ext cx="1466199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Adaptive Navigation</a:t>
            </a:r>
            <a:endParaRPr lang="en-US" sz="1046" dirty="0"/>
          </a:p>
        </p:txBody>
      </p:sp>
      <p:sp>
        <p:nvSpPr>
          <p:cNvPr id="17" name="Text 13"/>
          <p:cNvSpPr/>
          <p:nvPr/>
        </p:nvSpPr>
        <p:spPr>
          <a:xfrm>
            <a:off x="1876965" y="3745111"/>
            <a:ext cx="248331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: Transforms into a hamburger menu </a:t>
            </a:r>
            <a:endParaRPr lang="en-US" sz="1046" dirty="0"/>
          </a:p>
        </p:txBody>
      </p:sp>
      <p:sp>
        <p:nvSpPr>
          <p:cNvPr id="18" name="Text 14"/>
          <p:cNvSpPr/>
          <p:nvPr/>
        </p:nvSpPr>
        <p:spPr>
          <a:xfrm>
            <a:off x="410766" y="3959423"/>
            <a:ext cx="2532627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on smaller screens for better usability </a:t>
            </a:r>
            <a:endParaRPr lang="en-US" sz="1046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4343400"/>
            <a:ext cx="128588" cy="12858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42913" y="4316611"/>
            <a:ext cx="1442619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Flexible Grid System</a:t>
            </a:r>
            <a:endParaRPr lang="en-US" sz="1046" dirty="0"/>
          </a:p>
        </p:txBody>
      </p:sp>
      <p:sp>
        <p:nvSpPr>
          <p:cNvPr id="21" name="Text 16"/>
          <p:cNvSpPr/>
          <p:nvPr/>
        </p:nvSpPr>
        <p:spPr>
          <a:xfrm>
            <a:off x="1885531" y="4316611"/>
            <a:ext cx="2301599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: Projects and skills sections adjust </a:t>
            </a:r>
            <a:endParaRPr lang="en-US" sz="1046" dirty="0"/>
          </a:p>
        </p:txBody>
      </p:sp>
      <p:sp>
        <p:nvSpPr>
          <p:cNvPr id="22" name="Text 17"/>
          <p:cNvSpPr/>
          <p:nvPr/>
        </p:nvSpPr>
        <p:spPr>
          <a:xfrm>
            <a:off x="442913" y="4530923"/>
            <a:ext cx="2118289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columns based on screen width </a:t>
            </a:r>
            <a:endParaRPr lang="en-US" sz="1046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600" y="4914900"/>
            <a:ext cx="144661" cy="12858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58986" y="4888111"/>
            <a:ext cx="1684362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Responsive Typography</a:t>
            </a:r>
            <a:endParaRPr lang="en-US" sz="1046" dirty="0"/>
          </a:p>
        </p:txBody>
      </p:sp>
      <p:sp>
        <p:nvSpPr>
          <p:cNvPr id="25" name="Text 19"/>
          <p:cNvSpPr/>
          <p:nvPr/>
        </p:nvSpPr>
        <p:spPr>
          <a:xfrm>
            <a:off x="2143348" y="4888111"/>
            <a:ext cx="2279442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: Font sizes scale appropriately for </a:t>
            </a:r>
            <a:endParaRPr lang="en-US" sz="1046" dirty="0"/>
          </a:p>
        </p:txBody>
      </p:sp>
      <p:sp>
        <p:nvSpPr>
          <p:cNvPr id="26" name="Text 20"/>
          <p:cNvSpPr/>
          <p:nvPr/>
        </p:nvSpPr>
        <p:spPr>
          <a:xfrm>
            <a:off x="458986" y="5102423"/>
            <a:ext cx="141862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different screen sizes </a:t>
            </a:r>
            <a:endParaRPr lang="en-US" sz="1046" dirty="0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600" y="5486400"/>
            <a:ext cx="128588" cy="12858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42913" y="5459611"/>
            <a:ext cx="130345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Optimized Images</a:t>
            </a:r>
            <a:endParaRPr lang="en-US" sz="1046" dirty="0"/>
          </a:p>
        </p:txBody>
      </p:sp>
      <p:sp>
        <p:nvSpPr>
          <p:cNvPr id="29" name="Text 22"/>
          <p:cNvSpPr/>
          <p:nvPr/>
        </p:nvSpPr>
        <p:spPr>
          <a:xfrm>
            <a:off x="1746368" y="5459611"/>
            <a:ext cx="224330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: Images resize and reposition for </a:t>
            </a:r>
            <a:endParaRPr lang="en-US" sz="1046" dirty="0"/>
          </a:p>
        </p:txBody>
      </p:sp>
      <p:sp>
        <p:nvSpPr>
          <p:cNvPr id="30" name="Text 23"/>
          <p:cNvSpPr/>
          <p:nvPr/>
        </p:nvSpPr>
        <p:spPr>
          <a:xfrm>
            <a:off x="442913" y="5673923"/>
            <a:ext cx="199570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1046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optimal viewing on all devices </a:t>
            </a:r>
            <a:endParaRPr lang="en-US" sz="1046" dirty="0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9200" y="1839516"/>
            <a:ext cx="3543300" cy="318611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28600" y="228600"/>
            <a:ext cx="2256727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F9FAF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Featured Projects</a:t>
            </a:r>
            <a:endParaRPr lang="en-US" sz="2025" dirty="0"/>
          </a:p>
        </p:txBody>
      </p:sp>
      <p:sp>
        <p:nvSpPr>
          <p:cNvPr id="4" name="Shape 1"/>
          <p:cNvSpPr/>
          <p:nvPr/>
        </p:nvSpPr>
        <p:spPr>
          <a:xfrm>
            <a:off x="2599627" y="414338"/>
            <a:ext cx="6315773" cy="1428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5" name="Text 2"/>
          <p:cNvSpPr/>
          <p:nvPr/>
        </p:nvSpPr>
        <p:spPr>
          <a:xfrm>
            <a:off x="228600" y="785813"/>
            <a:ext cx="42291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0B98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Highlighted Portfolio Projects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228600" y="1128713"/>
            <a:ext cx="42291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The portfolio showcases a variety of projects demonstrating full-stack development skills. </a:t>
            </a:r>
            <a:endParaRPr lang="en-US" sz="1046" dirty="0"/>
          </a:p>
        </p:txBody>
      </p:sp>
      <p:sp>
        <p:nvSpPr>
          <p:cNvPr id="7" name="Text 4"/>
          <p:cNvSpPr/>
          <p:nvPr/>
        </p:nvSpPr>
        <p:spPr>
          <a:xfrm>
            <a:off x="364331" y="1671638"/>
            <a:ext cx="4093369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38" b="1" dirty="0">
                <a:solidFill>
                  <a:srgbClr val="F9FAF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Flavors-Table</a:t>
            </a:r>
            <a:endParaRPr lang="en-US" sz="1238" dirty="0"/>
          </a:p>
        </p:txBody>
      </p:sp>
      <p:sp>
        <p:nvSpPr>
          <p:cNvPr id="8" name="Text 5"/>
          <p:cNvSpPr/>
          <p:nvPr/>
        </p:nvSpPr>
        <p:spPr>
          <a:xfrm>
            <a:off x="364331" y="1935956"/>
            <a:ext cx="4093369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 modern recipe discovery application with user authentication and recipe management. </a:t>
            </a:r>
            <a:endParaRPr lang="en-US" sz="942" dirty="0"/>
          </a:p>
        </p:txBody>
      </p:sp>
      <p:sp>
        <p:nvSpPr>
          <p:cNvPr id="9" name="Shape 6"/>
          <p:cNvSpPr/>
          <p:nvPr/>
        </p:nvSpPr>
        <p:spPr>
          <a:xfrm>
            <a:off x="364331" y="2378869"/>
            <a:ext cx="515801" cy="221456"/>
          </a:xfrm>
          <a:prstGeom prst="roundRect">
            <a:avLst/>
          </a:prstGeom>
          <a:solidFill>
            <a:srgbClr val="10B981">
              <a:alpha val="20000"/>
            </a:srgbClr>
          </a:solidFill>
          <a:ln w="99">
            <a:solidFill>
              <a:srgbClr val="10B98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0" name="Text 7"/>
          <p:cNvSpPr/>
          <p:nvPr/>
        </p:nvSpPr>
        <p:spPr>
          <a:xfrm>
            <a:off x="364331" y="2378869"/>
            <a:ext cx="515801" cy="221456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10B98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HTML5</a:t>
            </a:r>
            <a:endParaRPr lang="en-US" sz="732" dirty="0"/>
          </a:p>
        </p:txBody>
      </p:sp>
      <p:sp>
        <p:nvSpPr>
          <p:cNvPr id="11" name="Shape 8"/>
          <p:cNvSpPr/>
          <p:nvPr/>
        </p:nvSpPr>
        <p:spPr>
          <a:xfrm>
            <a:off x="922995" y="2378869"/>
            <a:ext cx="415984" cy="221456"/>
          </a:xfrm>
          <a:prstGeom prst="roundRect">
            <a:avLst/>
          </a:prstGeom>
          <a:solidFill>
            <a:srgbClr val="10B981">
              <a:alpha val="20000"/>
            </a:srgbClr>
          </a:solidFill>
          <a:ln w="99">
            <a:solidFill>
              <a:srgbClr val="10B98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2" name="Text 9"/>
          <p:cNvSpPr/>
          <p:nvPr/>
        </p:nvSpPr>
        <p:spPr>
          <a:xfrm>
            <a:off x="922995" y="2378869"/>
            <a:ext cx="415984" cy="221456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10B98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CSS3</a:t>
            </a:r>
            <a:endParaRPr lang="en-US" sz="732" dirty="0"/>
          </a:p>
        </p:txBody>
      </p:sp>
      <p:sp>
        <p:nvSpPr>
          <p:cNvPr id="13" name="Shape 10"/>
          <p:cNvSpPr/>
          <p:nvPr/>
        </p:nvSpPr>
        <p:spPr>
          <a:xfrm>
            <a:off x="1381841" y="2378869"/>
            <a:ext cx="643719" cy="221456"/>
          </a:xfrm>
          <a:prstGeom prst="roundRect">
            <a:avLst/>
          </a:prstGeom>
          <a:solidFill>
            <a:srgbClr val="10B981">
              <a:alpha val="20000"/>
            </a:srgbClr>
          </a:solidFill>
          <a:ln w="99">
            <a:solidFill>
              <a:srgbClr val="10B98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4" name="Text 11"/>
          <p:cNvSpPr/>
          <p:nvPr/>
        </p:nvSpPr>
        <p:spPr>
          <a:xfrm>
            <a:off x="1381841" y="2378869"/>
            <a:ext cx="643719" cy="221456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10B98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JavaScript</a:t>
            </a:r>
            <a:endParaRPr lang="en-US" sz="732" dirty="0"/>
          </a:p>
        </p:txBody>
      </p:sp>
      <p:sp>
        <p:nvSpPr>
          <p:cNvPr id="15" name="Shape 12"/>
          <p:cNvSpPr/>
          <p:nvPr/>
        </p:nvSpPr>
        <p:spPr>
          <a:xfrm>
            <a:off x="2068423" y="2378869"/>
            <a:ext cx="540693" cy="221456"/>
          </a:xfrm>
          <a:prstGeom prst="roundRect">
            <a:avLst/>
          </a:prstGeom>
          <a:solidFill>
            <a:srgbClr val="10B981">
              <a:alpha val="20000"/>
            </a:srgbClr>
          </a:solidFill>
          <a:ln w="99">
            <a:solidFill>
              <a:srgbClr val="10B98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6" name="Text 13"/>
          <p:cNvSpPr/>
          <p:nvPr/>
        </p:nvSpPr>
        <p:spPr>
          <a:xfrm>
            <a:off x="2068423" y="2378869"/>
            <a:ext cx="540693" cy="221456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10B98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Node.js</a:t>
            </a:r>
            <a:endParaRPr lang="en-US" sz="732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331" y="2671763"/>
            <a:ext cx="110728" cy="1143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32209" y="2643188"/>
            <a:ext cx="38634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10B98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GitHub </a:t>
            </a:r>
            <a:endParaRPr lang="en-US" sz="837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2858" y="2671763"/>
            <a:ext cx="114300" cy="1143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204308" y="2643188"/>
            <a:ext cx="57482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10B98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Live Demo </a:t>
            </a:r>
            <a:endParaRPr lang="en-US" sz="837" dirty="0"/>
          </a:p>
        </p:txBody>
      </p:sp>
      <p:sp>
        <p:nvSpPr>
          <p:cNvPr id="21" name="Text 16"/>
          <p:cNvSpPr/>
          <p:nvPr/>
        </p:nvSpPr>
        <p:spPr>
          <a:xfrm>
            <a:off x="364331" y="2928938"/>
            <a:ext cx="4093369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38" b="1" dirty="0">
                <a:solidFill>
                  <a:srgbClr val="F9FAF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Task Management App</a:t>
            </a:r>
            <a:endParaRPr lang="en-US" sz="1238" dirty="0"/>
          </a:p>
        </p:txBody>
      </p:sp>
      <p:sp>
        <p:nvSpPr>
          <p:cNvPr id="22" name="Text 17"/>
          <p:cNvSpPr/>
          <p:nvPr/>
        </p:nvSpPr>
        <p:spPr>
          <a:xfrm>
            <a:off x="364331" y="3193256"/>
            <a:ext cx="4093369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 collaborative task management application with real-time updates and team features. </a:t>
            </a:r>
            <a:endParaRPr lang="en-US" sz="942" dirty="0"/>
          </a:p>
        </p:txBody>
      </p:sp>
      <p:sp>
        <p:nvSpPr>
          <p:cNvPr id="23" name="Shape 18"/>
          <p:cNvSpPr/>
          <p:nvPr/>
        </p:nvSpPr>
        <p:spPr>
          <a:xfrm>
            <a:off x="364331" y="3636169"/>
            <a:ext cx="444587" cy="221456"/>
          </a:xfrm>
          <a:prstGeom prst="roundRect">
            <a:avLst/>
          </a:prstGeom>
          <a:solidFill>
            <a:srgbClr val="10B981">
              <a:alpha val="20000"/>
            </a:srgbClr>
          </a:solidFill>
          <a:ln w="99">
            <a:solidFill>
              <a:srgbClr val="10B98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24" name="Text 19"/>
          <p:cNvSpPr/>
          <p:nvPr/>
        </p:nvSpPr>
        <p:spPr>
          <a:xfrm>
            <a:off x="364331" y="3636169"/>
            <a:ext cx="444587" cy="221456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10B98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React</a:t>
            </a:r>
            <a:endParaRPr lang="en-US" sz="732" dirty="0"/>
          </a:p>
        </p:txBody>
      </p:sp>
      <p:sp>
        <p:nvSpPr>
          <p:cNvPr id="25" name="Shape 20"/>
          <p:cNvSpPr/>
          <p:nvPr/>
        </p:nvSpPr>
        <p:spPr>
          <a:xfrm>
            <a:off x="851781" y="3636169"/>
            <a:ext cx="675922" cy="221456"/>
          </a:xfrm>
          <a:prstGeom prst="roundRect">
            <a:avLst/>
          </a:prstGeom>
          <a:solidFill>
            <a:srgbClr val="10B981">
              <a:alpha val="20000"/>
            </a:srgbClr>
          </a:solidFill>
          <a:ln w="99">
            <a:solidFill>
              <a:srgbClr val="10B98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26" name="Text 21"/>
          <p:cNvSpPr/>
          <p:nvPr/>
        </p:nvSpPr>
        <p:spPr>
          <a:xfrm>
            <a:off x="851781" y="3636169"/>
            <a:ext cx="675922" cy="221456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10B98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TypeScript</a:t>
            </a:r>
            <a:endParaRPr lang="en-US" sz="732" dirty="0"/>
          </a:p>
        </p:txBody>
      </p:sp>
      <p:sp>
        <p:nvSpPr>
          <p:cNvPr id="27" name="Shape 22"/>
          <p:cNvSpPr/>
          <p:nvPr/>
        </p:nvSpPr>
        <p:spPr>
          <a:xfrm>
            <a:off x="1570565" y="3636169"/>
            <a:ext cx="480585" cy="221456"/>
          </a:xfrm>
          <a:prstGeom prst="roundRect">
            <a:avLst/>
          </a:prstGeom>
          <a:solidFill>
            <a:srgbClr val="10B981">
              <a:alpha val="20000"/>
            </a:srgbClr>
          </a:solidFill>
          <a:ln w="99">
            <a:solidFill>
              <a:srgbClr val="10B98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28" name="Text 23"/>
          <p:cNvSpPr/>
          <p:nvPr/>
        </p:nvSpPr>
        <p:spPr>
          <a:xfrm>
            <a:off x="1570565" y="3636169"/>
            <a:ext cx="480585" cy="221456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10B98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Redux</a:t>
            </a:r>
            <a:endParaRPr lang="en-US" sz="732" dirty="0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331" y="3929063"/>
            <a:ext cx="110728" cy="11430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532209" y="3900488"/>
            <a:ext cx="38634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10B98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GitHub </a:t>
            </a:r>
            <a:endParaRPr lang="en-US" sz="837" dirty="0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1092" y="566290"/>
            <a:ext cx="3059081" cy="1923307"/>
          </a:xfrm>
          <a:prstGeom prst="rect">
            <a:avLst/>
          </a:prstGeom>
        </p:spPr>
      </p:pic>
      <p:pic>
        <p:nvPicPr>
          <p:cNvPr id="33" name="Picture 32" descr="A screenshot of a menu&#10;&#10;AI-generated content may be incorrect.">
            <a:extLst>
              <a:ext uri="{FF2B5EF4-FFF2-40B4-BE49-F238E27FC236}">
                <a16:creationId xmlns:a16="http://schemas.microsoft.com/office/drawing/2014/main" id="{BE68A5D0-B009-DF2A-1501-6E44CC66E36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41091" y="2755716"/>
            <a:ext cx="3059081" cy="147052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97944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28600" y="228600"/>
            <a:ext cx="2226115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F9FAF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Technology Stack</a:t>
            </a:r>
            <a:endParaRPr lang="en-US" sz="2025" dirty="0"/>
          </a:p>
        </p:txBody>
      </p:sp>
      <p:sp>
        <p:nvSpPr>
          <p:cNvPr id="4" name="Shape 1"/>
          <p:cNvSpPr/>
          <p:nvPr/>
        </p:nvSpPr>
        <p:spPr>
          <a:xfrm>
            <a:off x="2569015" y="414338"/>
            <a:ext cx="6346385" cy="1428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5" name="Text 2"/>
          <p:cNvSpPr/>
          <p:nvPr/>
        </p:nvSpPr>
        <p:spPr>
          <a:xfrm>
            <a:off x="228600" y="842963"/>
            <a:ext cx="42291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0B98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Portfolio Website Technologies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228600" y="1214438"/>
            <a:ext cx="4229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The portfolio website is built with modern web technologies, focusing on performance, responsiveness, and maintainability. </a:t>
            </a:r>
            <a:endParaRPr lang="en-US" sz="1046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1889522"/>
            <a:ext cx="171450" cy="14287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85775" y="1843088"/>
            <a:ext cx="702208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38" b="1" dirty="0">
                <a:solidFill>
                  <a:srgbClr val="F9FAF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Frontend </a:t>
            </a:r>
            <a:endParaRPr lang="en-US" sz="1238" dirty="0"/>
          </a:p>
        </p:txBody>
      </p:sp>
      <p:sp>
        <p:nvSpPr>
          <p:cNvPr id="9" name="Shape 5"/>
          <p:cNvSpPr/>
          <p:nvPr/>
        </p:nvSpPr>
        <p:spPr>
          <a:xfrm>
            <a:off x="457200" y="2164556"/>
            <a:ext cx="891211" cy="300038"/>
          </a:xfrm>
          <a:prstGeom prst="rect">
            <a:avLst/>
          </a:prstGeom>
          <a:solidFill>
            <a:srgbClr val="10B981">
              <a:alpha val="10000"/>
            </a:srgbClr>
          </a:solidFill>
          <a:ln w="99">
            <a:solidFill>
              <a:srgbClr val="10B981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0" name="Text 6"/>
          <p:cNvSpPr/>
          <p:nvPr/>
        </p:nvSpPr>
        <p:spPr>
          <a:xfrm>
            <a:off x="457200" y="2164556"/>
            <a:ext cx="891211" cy="300038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React 19.1.0</a:t>
            </a:r>
            <a:endParaRPr lang="en-US" sz="837" dirty="0"/>
          </a:p>
        </p:txBody>
      </p:sp>
      <p:sp>
        <p:nvSpPr>
          <p:cNvPr id="11" name="Shape 7"/>
          <p:cNvSpPr/>
          <p:nvPr/>
        </p:nvSpPr>
        <p:spPr>
          <a:xfrm>
            <a:off x="1419848" y="2164556"/>
            <a:ext cx="1260621" cy="300038"/>
          </a:xfrm>
          <a:prstGeom prst="rect">
            <a:avLst/>
          </a:prstGeom>
          <a:solidFill>
            <a:srgbClr val="10B981">
              <a:alpha val="10000"/>
            </a:srgbClr>
          </a:solidFill>
          <a:ln w="99">
            <a:solidFill>
              <a:srgbClr val="10B981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2" name="Text 8"/>
          <p:cNvSpPr/>
          <p:nvPr/>
        </p:nvSpPr>
        <p:spPr>
          <a:xfrm>
            <a:off x="1419848" y="2164556"/>
            <a:ext cx="1260621" cy="300038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Tailwind CSS 4.1.11</a:t>
            </a:r>
            <a:endParaRPr lang="en-US" sz="837" dirty="0"/>
          </a:p>
        </p:txBody>
      </p:sp>
      <p:sp>
        <p:nvSpPr>
          <p:cNvPr id="13" name="Shape 9"/>
          <p:cNvSpPr/>
          <p:nvPr/>
        </p:nvSpPr>
        <p:spPr>
          <a:xfrm>
            <a:off x="2751906" y="2164556"/>
            <a:ext cx="1460757" cy="300038"/>
          </a:xfrm>
          <a:prstGeom prst="rect">
            <a:avLst/>
          </a:prstGeom>
          <a:solidFill>
            <a:srgbClr val="10B981">
              <a:alpha val="10000"/>
            </a:srgbClr>
          </a:solidFill>
          <a:ln w="99">
            <a:solidFill>
              <a:srgbClr val="10B981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4" name="Text 10"/>
          <p:cNvSpPr/>
          <p:nvPr/>
        </p:nvSpPr>
        <p:spPr>
          <a:xfrm>
            <a:off x="2751906" y="2164556"/>
            <a:ext cx="1460757" cy="300038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Framer Motion 12.23.0</a:t>
            </a:r>
            <a:endParaRPr lang="en-US" sz="837" dirty="0"/>
          </a:p>
        </p:txBody>
      </p:sp>
      <p:sp>
        <p:nvSpPr>
          <p:cNvPr id="15" name="Shape 11"/>
          <p:cNvSpPr/>
          <p:nvPr/>
        </p:nvSpPr>
        <p:spPr>
          <a:xfrm>
            <a:off x="457200" y="2536031"/>
            <a:ext cx="1335937" cy="300038"/>
          </a:xfrm>
          <a:prstGeom prst="rect">
            <a:avLst/>
          </a:prstGeom>
          <a:solidFill>
            <a:srgbClr val="10B981">
              <a:alpha val="10000"/>
            </a:srgbClr>
          </a:solidFill>
          <a:ln w="99">
            <a:solidFill>
              <a:srgbClr val="10B981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6" name="Text 12"/>
          <p:cNvSpPr/>
          <p:nvPr/>
        </p:nvSpPr>
        <p:spPr>
          <a:xfrm>
            <a:off x="457200" y="2536031"/>
            <a:ext cx="1335937" cy="300038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Lucide React 0.525.0</a:t>
            </a:r>
            <a:endParaRPr lang="en-US" sz="837" dirty="0"/>
          </a:p>
        </p:txBody>
      </p:sp>
      <p:sp>
        <p:nvSpPr>
          <p:cNvPr id="17" name="Shape 13"/>
          <p:cNvSpPr/>
          <p:nvPr/>
        </p:nvSpPr>
        <p:spPr>
          <a:xfrm>
            <a:off x="1864575" y="2536031"/>
            <a:ext cx="1121625" cy="300038"/>
          </a:xfrm>
          <a:prstGeom prst="rect">
            <a:avLst/>
          </a:prstGeom>
          <a:solidFill>
            <a:srgbClr val="10B981">
              <a:alpha val="10000"/>
            </a:srgbClr>
          </a:solidFill>
          <a:ln w="99">
            <a:solidFill>
              <a:srgbClr val="10B981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8" name="Text 14"/>
          <p:cNvSpPr/>
          <p:nvPr/>
        </p:nvSpPr>
        <p:spPr>
          <a:xfrm>
            <a:off x="1864575" y="2536031"/>
            <a:ext cx="1121625" cy="300038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JavaScript (ES6+)</a:t>
            </a:r>
            <a:endParaRPr lang="en-US" sz="837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3039666"/>
            <a:ext cx="171450" cy="14287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85775" y="2993231"/>
            <a:ext cx="1194932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38" b="1" dirty="0">
                <a:solidFill>
                  <a:srgbClr val="F9FAF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Backend &amp; APIs </a:t>
            </a:r>
            <a:endParaRPr lang="en-US" sz="1238" dirty="0"/>
          </a:p>
        </p:txBody>
      </p:sp>
      <p:sp>
        <p:nvSpPr>
          <p:cNvPr id="21" name="Shape 16"/>
          <p:cNvSpPr/>
          <p:nvPr/>
        </p:nvSpPr>
        <p:spPr>
          <a:xfrm>
            <a:off x="457200" y="3314700"/>
            <a:ext cx="648546" cy="300038"/>
          </a:xfrm>
          <a:prstGeom prst="rect">
            <a:avLst/>
          </a:prstGeom>
          <a:solidFill>
            <a:srgbClr val="10B981">
              <a:alpha val="10000"/>
            </a:srgbClr>
          </a:solidFill>
          <a:ln w="99">
            <a:solidFill>
              <a:srgbClr val="10B981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22" name="Text 17"/>
          <p:cNvSpPr/>
          <p:nvPr/>
        </p:nvSpPr>
        <p:spPr>
          <a:xfrm>
            <a:off x="457200" y="3314700"/>
            <a:ext cx="648546" cy="300038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Node.js</a:t>
            </a:r>
            <a:endParaRPr lang="en-US" sz="837" dirty="0"/>
          </a:p>
        </p:txBody>
      </p:sp>
      <p:sp>
        <p:nvSpPr>
          <p:cNvPr id="23" name="Shape 18"/>
          <p:cNvSpPr/>
          <p:nvPr/>
        </p:nvSpPr>
        <p:spPr>
          <a:xfrm>
            <a:off x="1177184" y="3314700"/>
            <a:ext cx="770967" cy="300038"/>
          </a:xfrm>
          <a:prstGeom prst="rect">
            <a:avLst/>
          </a:prstGeom>
          <a:solidFill>
            <a:srgbClr val="10B981">
              <a:alpha val="10000"/>
            </a:srgbClr>
          </a:solidFill>
          <a:ln w="99">
            <a:solidFill>
              <a:srgbClr val="10B981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24" name="Text 19"/>
          <p:cNvSpPr/>
          <p:nvPr/>
        </p:nvSpPr>
        <p:spPr>
          <a:xfrm>
            <a:off x="1177184" y="3314700"/>
            <a:ext cx="770967" cy="300038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Express.js</a:t>
            </a:r>
            <a:endParaRPr lang="en-US" sz="837" dirty="0"/>
          </a:p>
        </p:txBody>
      </p:sp>
      <p:sp>
        <p:nvSpPr>
          <p:cNvPr id="25" name="Shape 20"/>
          <p:cNvSpPr/>
          <p:nvPr/>
        </p:nvSpPr>
        <p:spPr>
          <a:xfrm>
            <a:off x="2019588" y="3314700"/>
            <a:ext cx="908707" cy="300038"/>
          </a:xfrm>
          <a:prstGeom prst="rect">
            <a:avLst/>
          </a:prstGeom>
          <a:solidFill>
            <a:srgbClr val="10B981">
              <a:alpha val="10000"/>
            </a:srgbClr>
          </a:solidFill>
          <a:ln w="99">
            <a:solidFill>
              <a:srgbClr val="10B981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26" name="Text 21"/>
          <p:cNvSpPr/>
          <p:nvPr/>
        </p:nvSpPr>
        <p:spPr>
          <a:xfrm>
            <a:off x="2019588" y="3314700"/>
            <a:ext cx="908707" cy="300038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RESTful APIs</a:t>
            </a:r>
            <a:endParaRPr lang="en-US" sz="837" dirty="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600" y="3818334"/>
            <a:ext cx="171450" cy="142875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485775" y="3771900"/>
            <a:ext cx="1463046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38" b="1" dirty="0">
                <a:solidFill>
                  <a:srgbClr val="F9FAF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Development Tools </a:t>
            </a:r>
            <a:endParaRPr lang="en-US" sz="1238" dirty="0"/>
          </a:p>
        </p:txBody>
      </p:sp>
      <p:sp>
        <p:nvSpPr>
          <p:cNvPr id="29" name="Shape 23"/>
          <p:cNvSpPr/>
          <p:nvPr/>
        </p:nvSpPr>
        <p:spPr>
          <a:xfrm>
            <a:off x="457200" y="4093369"/>
            <a:ext cx="733825" cy="300038"/>
          </a:xfrm>
          <a:prstGeom prst="rect">
            <a:avLst/>
          </a:prstGeom>
          <a:solidFill>
            <a:srgbClr val="10B981">
              <a:alpha val="10000"/>
            </a:srgbClr>
          </a:solidFill>
          <a:ln w="99">
            <a:solidFill>
              <a:srgbClr val="10B981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30" name="Text 24"/>
          <p:cNvSpPr/>
          <p:nvPr/>
        </p:nvSpPr>
        <p:spPr>
          <a:xfrm>
            <a:off x="457200" y="4093369"/>
            <a:ext cx="733825" cy="300038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Vite 7.0.0</a:t>
            </a:r>
            <a:endParaRPr lang="en-US" sz="837" dirty="0"/>
          </a:p>
        </p:txBody>
      </p:sp>
      <p:sp>
        <p:nvSpPr>
          <p:cNvPr id="31" name="Shape 25"/>
          <p:cNvSpPr/>
          <p:nvPr/>
        </p:nvSpPr>
        <p:spPr>
          <a:xfrm>
            <a:off x="1262462" y="4093369"/>
            <a:ext cx="922995" cy="300038"/>
          </a:xfrm>
          <a:prstGeom prst="rect">
            <a:avLst/>
          </a:prstGeom>
          <a:solidFill>
            <a:srgbClr val="10B981">
              <a:alpha val="10000"/>
            </a:srgbClr>
          </a:solidFill>
          <a:ln w="99">
            <a:solidFill>
              <a:srgbClr val="10B981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32" name="Text 26"/>
          <p:cNvSpPr/>
          <p:nvPr/>
        </p:nvSpPr>
        <p:spPr>
          <a:xfrm>
            <a:off x="1262462" y="4093369"/>
            <a:ext cx="922995" cy="300038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ESLint 9.29.0</a:t>
            </a:r>
            <a:endParaRPr lang="en-US" sz="837" dirty="0"/>
          </a:p>
        </p:txBody>
      </p:sp>
      <p:sp>
        <p:nvSpPr>
          <p:cNvPr id="33" name="Shape 27"/>
          <p:cNvSpPr/>
          <p:nvPr/>
        </p:nvSpPr>
        <p:spPr>
          <a:xfrm>
            <a:off x="2256895" y="4093369"/>
            <a:ext cx="962062" cy="300038"/>
          </a:xfrm>
          <a:prstGeom prst="rect">
            <a:avLst/>
          </a:prstGeom>
          <a:solidFill>
            <a:srgbClr val="10B981">
              <a:alpha val="10000"/>
            </a:srgbClr>
          </a:solidFill>
          <a:ln w="99">
            <a:solidFill>
              <a:srgbClr val="10B981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34" name="Text 28"/>
          <p:cNvSpPr/>
          <p:nvPr/>
        </p:nvSpPr>
        <p:spPr>
          <a:xfrm>
            <a:off x="2256895" y="4093369"/>
            <a:ext cx="962062" cy="300038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PostCSS 8.5.6</a:t>
            </a:r>
            <a:endParaRPr lang="en-US" sz="837" dirty="0"/>
          </a:p>
        </p:txBody>
      </p:sp>
      <p:sp>
        <p:nvSpPr>
          <p:cNvPr id="35" name="Shape 29"/>
          <p:cNvSpPr/>
          <p:nvPr/>
        </p:nvSpPr>
        <p:spPr>
          <a:xfrm>
            <a:off x="3290395" y="4093369"/>
            <a:ext cx="919562" cy="300038"/>
          </a:xfrm>
          <a:prstGeom prst="rect">
            <a:avLst/>
          </a:prstGeom>
          <a:solidFill>
            <a:srgbClr val="10B981">
              <a:alpha val="10000"/>
            </a:srgbClr>
          </a:solidFill>
          <a:ln w="99">
            <a:solidFill>
              <a:srgbClr val="10B981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36" name="Text 30"/>
          <p:cNvSpPr/>
          <p:nvPr/>
        </p:nvSpPr>
        <p:spPr>
          <a:xfrm>
            <a:off x="3290395" y="4093369"/>
            <a:ext cx="919562" cy="300038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Git &amp; GitHub</a:t>
            </a:r>
            <a:endParaRPr lang="en-US" sz="837" dirty="0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600" y="4550569"/>
            <a:ext cx="4229100" cy="2143125"/>
          </a:xfrm>
          <a:prstGeom prst="rect">
            <a:avLst/>
          </a:prstGeom>
        </p:spPr>
      </p:pic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9200" y="2353866"/>
            <a:ext cx="3543300" cy="28289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72866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28600" y="228600"/>
            <a:ext cx="3111578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F9FAF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Conclusion &amp; Next Steps</a:t>
            </a:r>
            <a:endParaRPr lang="en-US" sz="2025" dirty="0"/>
          </a:p>
        </p:txBody>
      </p:sp>
      <p:sp>
        <p:nvSpPr>
          <p:cNvPr id="4" name="Shape 1"/>
          <p:cNvSpPr/>
          <p:nvPr/>
        </p:nvSpPr>
        <p:spPr>
          <a:xfrm>
            <a:off x="3454478" y="414338"/>
            <a:ext cx="5460922" cy="1428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5" name="Text 2"/>
          <p:cNvSpPr/>
          <p:nvPr/>
        </p:nvSpPr>
        <p:spPr>
          <a:xfrm>
            <a:off x="228600" y="842963"/>
            <a:ext cx="42291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0B98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Project Summary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228600" y="1214438"/>
            <a:ext cx="42291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The portfolio website successfully showcases Ghassan Emran's skills and projects through a modern, responsive design with intuitive navigation and engaging visuals. </a:t>
            </a:r>
            <a:endParaRPr lang="en-US" sz="1046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2100263"/>
            <a:ext cx="142875" cy="14287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7200" y="2071688"/>
            <a:ext cx="4000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Modern dark theme with emerald green accents for professional appearance</a:t>
            </a:r>
            <a:endParaRPr lang="en-US" sz="1046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2643188"/>
            <a:ext cx="142875" cy="14287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200" y="2614613"/>
            <a:ext cx="321798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Fully responsive design optimized for all devices</a:t>
            </a:r>
            <a:endParaRPr lang="en-US" sz="1046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2971800"/>
            <a:ext cx="142875" cy="14287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57200" y="2943225"/>
            <a:ext cx="358831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Interactive project showcase with filtering capabilities</a:t>
            </a:r>
            <a:endParaRPr lang="en-US" sz="1046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3300413"/>
            <a:ext cx="142875" cy="142875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57200" y="3271838"/>
            <a:ext cx="4000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Functional contact form with validation for client communication</a:t>
            </a:r>
            <a:endParaRPr lang="en-US" sz="1046" dirty="0"/>
          </a:p>
        </p:txBody>
      </p:sp>
      <p:sp>
        <p:nvSpPr>
          <p:cNvPr id="15" name="Shape 8"/>
          <p:cNvSpPr/>
          <p:nvPr/>
        </p:nvSpPr>
        <p:spPr>
          <a:xfrm>
            <a:off x="228600" y="3929063"/>
            <a:ext cx="4229100" cy="2393156"/>
          </a:xfrm>
          <a:prstGeom prst="rect">
            <a:avLst/>
          </a:prstGeom>
          <a:solidFill>
            <a:srgbClr val="374151"/>
          </a:solidFill>
          <a:ln/>
        </p:spPr>
        <p:txBody>
          <a:bodyPr/>
          <a:lstStyle/>
          <a:p>
            <a:endParaRPr lang="en-001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0050" y="4139803"/>
            <a:ext cx="137517" cy="157163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623292" y="4100513"/>
            <a:ext cx="1685590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38" b="1" dirty="0">
                <a:solidFill>
                  <a:srgbClr val="F9FAF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Future Enhancements </a:t>
            </a:r>
            <a:endParaRPr lang="en-US" sz="1238" dirty="0"/>
          </a:p>
        </p:txBody>
      </p:sp>
      <p:sp>
        <p:nvSpPr>
          <p:cNvPr id="18" name="Shape 10"/>
          <p:cNvSpPr/>
          <p:nvPr/>
        </p:nvSpPr>
        <p:spPr>
          <a:xfrm>
            <a:off x="400050" y="4479131"/>
            <a:ext cx="149265" cy="17145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19" name="Text 11"/>
          <p:cNvSpPr/>
          <p:nvPr/>
        </p:nvSpPr>
        <p:spPr>
          <a:xfrm>
            <a:off x="400050" y="4479131"/>
            <a:ext cx="14926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32" b="1" dirty="0">
                <a:solidFill>
                  <a:srgbClr val="F9FAF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732" dirty="0"/>
          </a:p>
        </p:txBody>
      </p:sp>
      <p:sp>
        <p:nvSpPr>
          <p:cNvPr id="20" name="Text 12"/>
          <p:cNvSpPr/>
          <p:nvPr/>
        </p:nvSpPr>
        <p:spPr>
          <a:xfrm>
            <a:off x="635040" y="4450556"/>
            <a:ext cx="365121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Implement blog section to share technical insights and project details</a:t>
            </a:r>
            <a:endParaRPr lang="en-US" sz="942" dirty="0"/>
          </a:p>
        </p:txBody>
      </p:sp>
      <p:sp>
        <p:nvSpPr>
          <p:cNvPr id="21" name="Shape 13"/>
          <p:cNvSpPr/>
          <p:nvPr/>
        </p:nvSpPr>
        <p:spPr>
          <a:xfrm>
            <a:off x="400050" y="4950619"/>
            <a:ext cx="171450" cy="17145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22" name="Text 14"/>
          <p:cNvSpPr/>
          <p:nvPr/>
        </p:nvSpPr>
        <p:spPr>
          <a:xfrm>
            <a:off x="400050" y="4950619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32" b="1" dirty="0">
                <a:solidFill>
                  <a:srgbClr val="F9FAF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732" dirty="0"/>
          </a:p>
        </p:txBody>
      </p:sp>
      <p:sp>
        <p:nvSpPr>
          <p:cNvPr id="23" name="Text 15"/>
          <p:cNvSpPr/>
          <p:nvPr/>
        </p:nvSpPr>
        <p:spPr>
          <a:xfrm>
            <a:off x="657225" y="4922044"/>
            <a:ext cx="327769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Add dark/light theme toggle for improved accessibility</a:t>
            </a:r>
            <a:endParaRPr lang="en-US" sz="942" dirty="0"/>
          </a:p>
        </p:txBody>
      </p:sp>
      <p:sp>
        <p:nvSpPr>
          <p:cNvPr id="24" name="Shape 16"/>
          <p:cNvSpPr/>
          <p:nvPr/>
        </p:nvSpPr>
        <p:spPr>
          <a:xfrm>
            <a:off x="400050" y="5236369"/>
            <a:ext cx="153898" cy="17145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25" name="Text 17"/>
          <p:cNvSpPr/>
          <p:nvPr/>
        </p:nvSpPr>
        <p:spPr>
          <a:xfrm>
            <a:off x="400050" y="5236369"/>
            <a:ext cx="15389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32" b="1" dirty="0">
                <a:solidFill>
                  <a:srgbClr val="F9FAF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732" dirty="0"/>
          </a:p>
        </p:txBody>
      </p:sp>
      <p:sp>
        <p:nvSpPr>
          <p:cNvPr id="26" name="Text 18"/>
          <p:cNvSpPr/>
          <p:nvPr/>
        </p:nvSpPr>
        <p:spPr>
          <a:xfrm>
            <a:off x="639673" y="5207794"/>
            <a:ext cx="3646577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Integrate project case studies with detailed development processes</a:t>
            </a:r>
            <a:endParaRPr lang="en-US" sz="942" dirty="0"/>
          </a:p>
        </p:txBody>
      </p:sp>
      <p:sp>
        <p:nvSpPr>
          <p:cNvPr id="27" name="Shape 19"/>
          <p:cNvSpPr/>
          <p:nvPr/>
        </p:nvSpPr>
        <p:spPr>
          <a:xfrm>
            <a:off x="400050" y="5707856"/>
            <a:ext cx="168046" cy="17145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001"/>
          </a:p>
        </p:txBody>
      </p:sp>
      <p:sp>
        <p:nvSpPr>
          <p:cNvPr id="28" name="Text 20"/>
          <p:cNvSpPr/>
          <p:nvPr/>
        </p:nvSpPr>
        <p:spPr>
          <a:xfrm>
            <a:off x="400050" y="5707856"/>
            <a:ext cx="16804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32" b="1" dirty="0">
                <a:solidFill>
                  <a:srgbClr val="F9FAF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</a:t>
            </a:r>
            <a:endParaRPr lang="en-US" sz="732" dirty="0"/>
          </a:p>
        </p:txBody>
      </p:sp>
      <p:sp>
        <p:nvSpPr>
          <p:cNvPr id="29" name="Text 21"/>
          <p:cNvSpPr/>
          <p:nvPr/>
        </p:nvSpPr>
        <p:spPr>
          <a:xfrm>
            <a:off x="653821" y="5679281"/>
            <a:ext cx="3632429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Add testimonials section from previous clients and employers</a:t>
            </a:r>
            <a:endParaRPr lang="en-US" sz="942" dirty="0"/>
          </a:p>
        </p:txBody>
      </p:sp>
      <p:sp>
        <p:nvSpPr>
          <p:cNvPr id="30" name="Text 22"/>
          <p:cNvSpPr/>
          <p:nvPr/>
        </p:nvSpPr>
        <p:spPr>
          <a:xfrm>
            <a:off x="228600" y="6550819"/>
            <a:ext cx="42291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9FAF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Thank You!</a:t>
            </a:r>
            <a:endParaRPr lang="en-US" sz="1350" dirty="0"/>
          </a:p>
        </p:txBody>
      </p:sp>
      <p:sp>
        <p:nvSpPr>
          <p:cNvPr id="31" name="Text 23"/>
          <p:cNvSpPr/>
          <p:nvPr/>
        </p:nvSpPr>
        <p:spPr>
          <a:xfrm>
            <a:off x="913284" y="6874073"/>
            <a:ext cx="137051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42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For more information: </a:t>
            </a:r>
            <a:endParaRPr lang="en-US" sz="942" dirty="0"/>
          </a:p>
        </p:txBody>
      </p:sp>
      <p:sp>
        <p:nvSpPr>
          <p:cNvPr id="32" name="Text 24"/>
          <p:cNvSpPr/>
          <p:nvPr/>
        </p:nvSpPr>
        <p:spPr>
          <a:xfrm>
            <a:off x="2283795" y="6874073"/>
            <a:ext cx="148919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42" b="1" dirty="0">
                <a:solidFill>
                  <a:srgbClr val="10B98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ghassan.98@yahoo.com</a:t>
            </a:r>
            <a:endParaRPr lang="en-US" sz="942" dirty="0"/>
          </a:p>
        </p:txBody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2536031"/>
            <a:ext cx="3543300" cy="2828925"/>
          </a:xfrm>
          <a:prstGeom prst="rect">
            <a:avLst/>
          </a:prstGeom>
        </p:spPr>
      </p:pic>
    </p:spTree>
  </p:cSld>
  <p:clrMapOvr>
    <a:masterClrMapping/>
  </p:clrMapOvr>
  <p:transition spd="slow">
    <p:fade thruBlk="1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1016</TotalTime>
  <Words>800</Words>
  <Application>Microsoft Office PowerPoint</Application>
  <PresentationFormat>On-screen Show (16:9)</PresentationFormat>
  <Paragraphs>162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Noto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ghassan emran</cp:lastModifiedBy>
  <cp:revision>4</cp:revision>
  <dcterms:created xsi:type="dcterms:W3CDTF">2025-08-11T06:31:52Z</dcterms:created>
  <dcterms:modified xsi:type="dcterms:W3CDTF">2025-08-11T23:34:29Z</dcterms:modified>
</cp:coreProperties>
</file>